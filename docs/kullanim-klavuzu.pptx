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KULLANIM</a:t>
            </a:r>
            <a:endParaRPr lang="en-US" sz="5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KILAVUZU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v7.13  ·  Mayıs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37160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Benseno</a:t>
            </a:r>
            <a:endParaRPr lang="en-US" sz="4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Tasarım Sistemi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846320" y="3566160"/>
            <a:ext cx="1554480" cy="320040"/>
          </a:xfrm>
          <a:prstGeom prst="roundRect">
            <a:avLst>
              <a:gd name="adj" fmla="val 11429"/>
            </a:avLst>
          </a:prstGeom>
          <a:solidFill>
            <a:srgbClr val="3A3A42"/>
          </a:solidFill>
          <a:ln w="12700">
            <a:solidFill>
              <a:srgbClr val="5B5B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3611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kişi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3566160"/>
            <a:ext cx="1554480" cy="320040"/>
          </a:xfrm>
          <a:prstGeom prst="roundRect">
            <a:avLst>
              <a:gd name="adj" fmla="val 11429"/>
            </a:avLst>
          </a:prstGeom>
          <a:solidFill>
            <a:srgbClr val="3A3A42"/>
          </a:solidFill>
          <a:ln w="12700">
            <a:solidFill>
              <a:srgbClr val="5B5B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3611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marka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321040" y="3566160"/>
            <a:ext cx="1554480" cy="320040"/>
          </a:xfrm>
          <a:prstGeom prst="roundRect">
            <a:avLst>
              <a:gd name="adj" fmla="val 11429"/>
            </a:avLst>
          </a:prstGeom>
          <a:solidFill>
            <a:srgbClr val="3A3A42"/>
          </a:solidFill>
          <a:ln w="12700">
            <a:solidFill>
              <a:srgbClr val="5B5B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3611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departman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0" y="3566160"/>
            <a:ext cx="1554480" cy="320040"/>
          </a:xfrm>
          <a:prstGeom prst="roundRect">
            <a:avLst>
              <a:gd name="adj" fmla="val 11429"/>
            </a:avLst>
          </a:prstGeom>
          <a:solidFill>
            <a:srgbClr val="3A3A42"/>
          </a:solidFill>
          <a:ln w="12700">
            <a:solidFill>
              <a:srgbClr val="5B5B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0" y="3611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 katmanı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60350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bensenoint.github.io/benseno-tasarim-sistemi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12700">
            <a:solidFill>
              <a:srgbClr val="FB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0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28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6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Sisteme Genel Bakış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7772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· ROLLER · DEPARTMANLAR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005840"/>
            <a:ext cx="10515600" cy="13716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1430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 KATMANI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1371600"/>
            <a:ext cx="402336" cy="402336"/>
          </a:xfrm>
          <a:prstGeom prst="ellipse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44475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140817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160934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:15/:45 — tüm akışı koordine eder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60704" y="1792224"/>
            <a:ext cx="18288" cy="475488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286000"/>
            <a:ext cx="402336" cy="402336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35915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232257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252374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okuma, brief parsing, öncelik hesaplama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60704" y="2706624"/>
            <a:ext cx="18288" cy="475488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200400"/>
            <a:ext cx="402336" cy="402336"/>
          </a:xfrm>
          <a:prstGeom prst="ellipse">
            <a:avLst/>
          </a:prstGeom>
          <a:solidFill>
            <a:srgbClr val="C99A1E"/>
          </a:solidFill>
          <a:ln w="12700">
            <a:solidFill>
              <a:srgbClr val="C99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7355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323697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Agent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343814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DM, Google Calendar, idempotent kontrol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60704" y="3621024"/>
            <a:ext cx="18288" cy="475488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114800"/>
            <a:ext cx="402336" cy="402336"/>
          </a:xfrm>
          <a:prstGeom prst="ellipse">
            <a:avLst/>
          </a:prstGeom>
          <a:solidFill>
            <a:srgbClr val="2E8F66"/>
          </a:solidFill>
          <a:ln w="12700">
            <a:solidFill>
              <a:srgbClr val="2E8F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18795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415137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Agent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35254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live-data.json → GitHub Pages push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11430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DEPARTMAN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0" y="137160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1371600"/>
            <a:ext cx="109728" cy="1371600"/>
          </a:xfrm>
          <a:prstGeom prst="roundRect">
            <a:avLst>
              <a:gd name="adj" fmla="val 33333"/>
            </a:avLst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15361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Tasarım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12280" y="184708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Aylin T, Aykut, Hasan Serdar,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Pelin, İpek (Yön.), İrem, Serhat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607040" y="1536192"/>
            <a:ext cx="822960" cy="292608"/>
          </a:xfrm>
          <a:prstGeom prst="roundRect">
            <a:avLst>
              <a:gd name="adj" fmla="val 12500"/>
            </a:avLst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0" y="155448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kişi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292608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0" y="2926080"/>
            <a:ext cx="109728" cy="1371600"/>
          </a:xfrm>
          <a:prstGeom prst="roundRect">
            <a:avLst>
              <a:gd name="adj" fmla="val 33333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30906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Editör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12280" y="340156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Cansu (Dir.), erdem (Yön.), Eda T,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A, Melis, Aylin C, Buse, Simge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607040" y="3090672"/>
            <a:ext cx="822960" cy="292608"/>
          </a:xfrm>
          <a:prstGeom prst="roundRect">
            <a:avLst>
              <a:gd name="adj" fmla="val 12500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07040" y="310896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kişi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83680" y="448056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0" y="4480560"/>
            <a:ext cx="109728" cy="1371600"/>
          </a:xfrm>
          <a:prstGeom prst="roundRect">
            <a:avLst>
              <a:gd name="adj" fmla="val 33333"/>
            </a:avLst>
          </a:prstGeom>
          <a:solidFill>
            <a:srgbClr val="2E8F66"/>
          </a:solidFill>
          <a:ln w="12700">
            <a:solidFill>
              <a:srgbClr val="2E8F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46451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12280" y="495604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607040" y="4645152"/>
            <a:ext cx="822960" cy="292608"/>
          </a:xfrm>
          <a:prstGeom prst="roundRect">
            <a:avLst>
              <a:gd name="adj" fmla="val 12500"/>
            </a:avLst>
          </a:prstGeom>
          <a:solidFill>
            <a:srgbClr val="2E8F66"/>
          </a:solidFill>
          <a:ln w="12700">
            <a:solidFill>
              <a:srgbClr val="2E8F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07040" y="46634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kişi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68680" y="5303520"/>
            <a:ext cx="10744200" cy="822960"/>
          </a:xfrm>
          <a:prstGeom prst="roundRect">
            <a:avLst>
              <a:gd name="adj" fmla="val 6667"/>
            </a:avLst>
          </a:prstGeom>
          <a:solidFill>
            <a:srgbClr val="F4F2EC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" y="53766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YÖNETİCİ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60320" y="537667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Görkem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560320" y="56327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Müdür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389120" y="537667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Reyhan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389120" y="56327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17920" y="537667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Cansu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217920" y="56327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Direktör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046720" y="537667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İpek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046720" y="56327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Yön.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875520" y="537667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erdem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9875520" y="56327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Editör Yön.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12700">
            <a:solidFill>
              <a:srgbClr val="FB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0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28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6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Slack — Brief Açma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7772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KANALLAR · WORKFLOW · DEADLINE KURALLARI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005840"/>
            <a:ext cx="10515600" cy="13716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1430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ADIMLARI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1417320"/>
            <a:ext cx="402336" cy="402336"/>
          </a:xfrm>
          <a:prstGeom prst="ellipse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4904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144475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İlgili marka kanalını aç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166420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#marka-bauhaus gibi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60704" y="1837944"/>
            <a:ext cx="18288" cy="658368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514600"/>
            <a:ext cx="402336" cy="402336"/>
          </a:xfrm>
          <a:prstGeom prst="ellipse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58775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254203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'Yeni Brief Aç' butonuna tıkla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276148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form açılır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60704" y="2935224"/>
            <a:ext cx="18288" cy="658368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611880"/>
            <a:ext cx="402336" cy="402336"/>
          </a:xfrm>
          <a:prstGeom prst="ellipse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68503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363931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 doldur ve gönder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3858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alan — 5 zorunlu, 3 opsiyonel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60704" y="4032504"/>
            <a:ext cx="18288" cy="658368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709160"/>
            <a:ext cx="402336" cy="402336"/>
          </a:xfrm>
          <a:prstGeom prst="ellipse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78231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473659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otomatik işler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95604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Öncelik → Canvas → DM → Dashboard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114300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KURALLARI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0" y="137160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1371600"/>
            <a:ext cx="91440" cy="82296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146304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gün deadline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29400" y="17190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ZORUNLU — girilmezse DM uyarısı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233172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2331720"/>
            <a:ext cx="91440" cy="822960"/>
          </a:xfrm>
          <a:prstGeom prst="rect">
            <a:avLst/>
          </a:prstGeom>
          <a:solidFill>
            <a:srgbClr val="C99A1E"/>
          </a:solidFill>
          <a:ln w="12700">
            <a:solidFill>
              <a:srgbClr val="C99A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242316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Geçmiş tarih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29400" y="26791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Thread'e ✅ ok yaz veya ✅ reaction ekle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329184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3291840"/>
            <a:ext cx="91440" cy="822960"/>
          </a:xfrm>
          <a:prstGeom prst="rect">
            <a:avLst/>
          </a:prstGeom>
          <a:solidFill>
            <a:srgbClr val="2E8F66"/>
          </a:solidFill>
          <a:ln w="12700">
            <a:solidFill>
              <a:srgbClr val="2E8F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338328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Mesai dışı saat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629400" y="36393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Mesai dışı etiketi — blokaj değil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429768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AE8EA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440740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🔴 Acil brief'lerde @auto KULLANMA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583680" y="46817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E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otomatik atamayı sonraki sync'te işler.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E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saatten az deadline'larda bu gecikme kabul edilemez.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68680" y="589788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 vs. SIRALI AKIŞ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12700">
            <a:solidFill>
              <a:srgbClr val="FB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0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28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6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Slack — Brief Takibi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7772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SISTEMI · DURUM AKIŞI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005840"/>
            <a:ext cx="10515600" cy="13716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143000"/>
            <a:ext cx="2084832" cy="21945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143000"/>
            <a:ext cx="2084832" cy="73152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3716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68680" y="196596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Çalışılıyor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2860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İşe başladım /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Revizyona başlıyorum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36392" y="1143000"/>
            <a:ext cx="2084832" cy="21945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36392" y="1143000"/>
            <a:ext cx="2084832" cy="73152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13716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👀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136392" y="196596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İncelemede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36392" y="22860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Revize için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sunuyorum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04104" y="1143000"/>
            <a:ext cx="2084832" cy="21945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04104" y="1143000"/>
            <a:ext cx="2084832" cy="73152"/>
          </a:xfrm>
          <a:prstGeom prst="rect">
            <a:avLst/>
          </a:prstGeom>
          <a:solidFill>
            <a:srgbClr val="2E8F66"/>
          </a:solidFill>
          <a:ln w="12700">
            <a:solidFill>
              <a:srgbClr val="2E8F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04104" y="13716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404104" y="196596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04104" y="22860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bitti,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 edildi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71816" y="1143000"/>
            <a:ext cx="2084832" cy="21945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71816" y="1143000"/>
            <a:ext cx="2084832" cy="73152"/>
          </a:xfrm>
          <a:prstGeom prst="rect">
            <a:avLst/>
          </a:prstGeom>
          <a:solidFill>
            <a:srgbClr val="C99A1E"/>
          </a:solidFill>
          <a:ln w="12700">
            <a:solidFill>
              <a:srgbClr val="C99A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71816" y="13716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♻️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671816" y="196596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Aç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71816" y="22860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Kapatılan brief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edilir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939528" y="1143000"/>
            <a:ext cx="2084832" cy="21945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39528" y="1143000"/>
            <a:ext cx="2084832" cy="73152"/>
          </a:xfrm>
          <a:prstGeom prst="rect">
            <a:avLst/>
          </a:prstGeom>
          <a:solidFill>
            <a:srgbClr val="5B5B66"/>
          </a:solidFill>
          <a:ln w="12700">
            <a:solidFill>
              <a:srgbClr val="5B5B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39528" y="13716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9939528" y="196596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Force-Close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39528" y="22860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 eksik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✅'leri kapatır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" y="3566160"/>
            <a:ext cx="10744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TASARIMCI AKIŞI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22960" y="393192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5B5B66"/>
          </a:solidFill>
          <a:ln w="12700">
            <a:solidFill>
              <a:srgbClr val="5B5B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9776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Geldi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32888" y="4160520"/>
            <a:ext cx="210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743200" y="393192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0" y="39776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ekle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53128" y="4160520"/>
            <a:ext cx="210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663440" y="393192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9776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ekle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73368" y="4160520"/>
            <a:ext cx="210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583680" y="393192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C99A1E"/>
          </a:solidFill>
          <a:ln w="12700">
            <a:solidFill>
              <a:srgbClr val="C99A1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9776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Revizyon →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tekrar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93608" y="4160520"/>
            <a:ext cx="210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503920" y="393192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03920" y="39776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tekrar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213848" y="4160520"/>
            <a:ext cx="210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424160" y="393192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2E8F66"/>
          </a:solidFill>
          <a:ln w="12700">
            <a:solidFill>
              <a:srgbClr val="2E8F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424160" y="39776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ekle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68680" y="5029200"/>
            <a:ext cx="10744200" cy="777240"/>
          </a:xfrm>
          <a:prstGeom prst="roundRect">
            <a:avLst>
              <a:gd name="adj" fmla="val 9412"/>
            </a:avLst>
          </a:prstGeom>
          <a:solidFill>
            <a:srgbClr val="F4F2EC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7280" y="51663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Reaction'lar her zaman brief'in PARENT mesajına eklenmelidir — thread içine eklenenler işlenmez.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12700">
            <a:solidFill>
              <a:srgbClr val="FB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0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28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6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Slack — Bildirimler &amp; DM'ler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7772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ŞABLON · OTOMATIK UYARILAR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005840"/>
            <a:ext cx="10515600" cy="13716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14300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143000"/>
            <a:ext cx="91440" cy="1143000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23444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Şablon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1417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Atama Bildirimi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7099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açıldıktan sonra atanan kişiye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0" y="114300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143000"/>
            <a:ext cx="91440" cy="11430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23444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Şablon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75120" y="1417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 Akış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17099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Sıradaki kişiye 'sıran yaklaşıyor' bildirimi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" y="246888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2468880"/>
            <a:ext cx="91440" cy="1143000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256032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Şablon 18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27432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 Uyarısı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0358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Acil brief'te @auto kullanımı engeli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46520" y="246888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2468880"/>
            <a:ext cx="91440" cy="1143000"/>
          </a:xfrm>
          <a:prstGeom prst="rect">
            <a:avLst/>
          </a:prstGeom>
          <a:solidFill>
            <a:srgbClr val="C99A1E"/>
          </a:solidFill>
          <a:ln w="12700">
            <a:solidFill>
              <a:srgbClr val="C99A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256032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9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Şablon 23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27432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Belirsiz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30358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departmanı tespit edemezse erdem'e DM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" y="379476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3794760"/>
            <a:ext cx="91440" cy="11430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388620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Şablon 24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40690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Geçmiş Deadline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thread'ine uyarı mesajı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46520" y="379476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3794760"/>
            <a:ext cx="91440" cy="11430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388620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Şablon 25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75120" y="40690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Açana DM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75120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açan kişiye geçmiş tarih DM'i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68680" y="512064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680" y="5120640"/>
            <a:ext cx="91440" cy="1143000"/>
          </a:xfrm>
          <a:prstGeom prst="rect">
            <a:avLst/>
          </a:prstGeom>
          <a:solidFill>
            <a:srgbClr val="C99A1E"/>
          </a:solidFill>
          <a:ln w="12700">
            <a:solidFill>
              <a:srgbClr val="C99A1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52120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9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Şablon 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97280" y="53949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Eksik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97280" y="56875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gün teslim ama saat yok uyarısı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46520" y="512064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46520" y="5120640"/>
            <a:ext cx="91440" cy="1143000"/>
          </a:xfrm>
          <a:prstGeom prst="rect">
            <a:avLst/>
          </a:prstGeom>
          <a:solidFill>
            <a:srgbClr val="2E8F66"/>
          </a:solidFill>
          <a:ln w="12700">
            <a:solidFill>
              <a:srgbClr val="2E8F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52120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Şablon 27/28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675120" y="53949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Sapma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675120" y="56875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deadline kıyaslaması (1 Haz 2026+)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68680" y="6400800"/>
            <a:ext cx="10744200" cy="237744"/>
          </a:xfrm>
          <a:prstGeom prst="roundRect">
            <a:avLst>
              <a:gd name="adj" fmla="val 15385"/>
            </a:avLst>
          </a:prstGeom>
          <a:solidFill>
            <a:srgbClr val="E8F4EF"/>
          </a:solidFill>
          <a:ln w="12700">
            <a:solidFill>
              <a:srgbClr val="2E8F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5840" y="6428232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 Şablon 27/28 yalnızca E3 sistemi active modda çalışır — 1 Haziran 2026 ve sonrası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12700">
            <a:solidFill>
              <a:srgbClr val="FB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0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28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6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7772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EKRAN · KPI KARTLARI · GÖRÜNÜM SEÇIMI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005840"/>
            <a:ext cx="10515600" cy="13716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14300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 KARTI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14173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417320"/>
            <a:ext cx="54864" cy="1005840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527048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Brief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18013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 an işlemde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0" y="14173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1417320"/>
            <a:ext cx="54864" cy="1005840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1527048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18013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geçmiş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4173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417320"/>
            <a:ext cx="54864" cy="100584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527048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Teslim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8013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bitirilecek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68680" y="26060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2606040"/>
            <a:ext cx="54864" cy="1005840"/>
          </a:xfrm>
          <a:prstGeom prst="rect">
            <a:avLst/>
          </a:prstGeom>
          <a:solidFill>
            <a:srgbClr val="C99A1E"/>
          </a:solidFill>
          <a:ln w="12700">
            <a:solidFill>
              <a:srgbClr val="C99A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2715768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Bekleyen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29900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durumundaki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0" y="26060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2606040"/>
            <a:ext cx="54864" cy="1005840"/>
          </a:xfrm>
          <a:prstGeom prst="rect">
            <a:avLst/>
          </a:prstGeom>
          <a:solidFill>
            <a:srgbClr val="5B5B66"/>
          </a:solidFill>
          <a:ln w="12700">
            <a:solidFill>
              <a:srgbClr val="5B5B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2715768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Hareketsiz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0" y="29900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gün sessiz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26060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2606040"/>
            <a:ext cx="54864" cy="1005840"/>
          </a:xfrm>
          <a:prstGeom prst="rect">
            <a:avLst/>
          </a:prstGeom>
          <a:solidFill>
            <a:srgbClr val="2E8F66"/>
          </a:solidFill>
          <a:ln w="12700">
            <a:solidFill>
              <a:srgbClr val="2E8F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715768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29900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dolu oranı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75120" y="114300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EKRAN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75120" y="141732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154533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22592" y="1554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Bakış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235440" y="141732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08592" y="154533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582912" y="1554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675120" y="207568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8272" y="220370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22592" y="2212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İşler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235440" y="207568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08592" y="220370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582912" y="2212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Plan/Gantt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675120" y="2734056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48272" y="28620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22592" y="28712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235440" y="2734056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08592" y="28620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582912" y="28712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Tamamlananlar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675120" y="3392424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48272" y="35204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022592" y="35295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235440" y="3392424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08592" y="35204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582912" y="35295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Geçmiş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675120" y="4050792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48272" y="417880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022592" y="4187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235440" y="4050792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08592" y="417880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582912" y="4187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Multi-Atama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675120" y="470916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48272" y="48371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022592" y="4846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235440" y="470916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08592" y="48371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582912" y="4846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Matrisi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675120" y="536752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48272" y="549554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022592" y="5504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Tasarım/Ed./AI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235440" y="536752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308592" y="549554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582912" y="5504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68680" y="4114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bensenoint.github.io/benseno-tasarim-sistemi  ·  Şifre: İpek'ten alın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12700">
            <a:solidFill>
              <a:srgbClr val="FB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0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28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6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Yönetici İşlemleri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7772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· FORCE-CLOSE · E3 · SABAH RAPORU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005840"/>
            <a:ext cx="10515600" cy="13716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14300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ÖNCELİK OVERRIDE — REACTION İLE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1417320"/>
            <a:ext cx="402336" cy="402336"/>
          </a:xfrm>
          <a:prstGeom prst="ellipse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4904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144475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mesajını bul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166420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kanalında — PARENT mesajı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60704" y="1837944"/>
            <a:ext cx="18288" cy="566928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423160"/>
            <a:ext cx="402336" cy="402336"/>
          </a:xfrm>
          <a:prstGeom prst="ellipse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49631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245059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 reaction ekle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267004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🟠 🟡 🟢 — parent'a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60704" y="2843784"/>
            <a:ext cx="18288" cy="566928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429000"/>
            <a:ext cx="402336" cy="402336"/>
          </a:xfrm>
          <a:prstGeom prst="ellipse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50215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345643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Anlık işlenir (Socket Mode)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367588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güncellenir, Geçmiş sütununa not düşer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8680" y="4663440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F4F2EC"/>
          </a:solidFill>
          <a:ln w="12700">
            <a:solidFill>
              <a:srgbClr val="F4F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70001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Acil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0" y="4663440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F4F2EC"/>
          </a:solidFill>
          <a:ln w="12700">
            <a:solidFill>
              <a:srgbClr val="F4F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470001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Yüksek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03320" y="4663440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F4F2EC"/>
          </a:solidFill>
          <a:ln w="12700">
            <a:solidFill>
              <a:srgbClr val="F4F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470001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Normal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4663440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F4F2EC"/>
          </a:solidFill>
          <a:ln w="12700">
            <a:solidFill>
              <a:srgbClr val="F4F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470001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Düşük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50292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Yetkili: Görkem, Reyhan, Cansu, İpek, erdem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11430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— MARKA DAVRANIŞ KIYASLAMASI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0" y="1417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E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brief açıldığında o markanın geçmiş brief'lerinden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E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hesaplanan medyan deadline süresiyle karşılaştırılır.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83680" y="214884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2148840"/>
            <a:ext cx="91440" cy="1097280"/>
          </a:xfrm>
          <a:prstGeom prst="rect">
            <a:avLst/>
          </a:prstGeom>
          <a:solidFill>
            <a:srgbClr val="C99A1E"/>
          </a:solidFill>
          <a:ln w="12700">
            <a:solidFill>
              <a:srgbClr val="C99A1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silent_log_only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12280" y="2560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toplanır, DM/uyarı gönderilmez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12280" y="28346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Haz 2026 öncesi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83680" y="352044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0" y="3520440"/>
            <a:ext cx="91440" cy="1097280"/>
          </a:xfrm>
          <a:prstGeom prst="rect">
            <a:avLst/>
          </a:prstGeom>
          <a:solidFill>
            <a:srgbClr val="2E8F66"/>
          </a:solidFill>
          <a:ln w="12700">
            <a:solidFill>
              <a:srgbClr val="2E8F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1228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12280" y="3931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aktivasyon — DM + dashboard etiketi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12280" y="42062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Haz 2026 sonrası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68680" y="5486400"/>
            <a:ext cx="10744200" cy="685800"/>
          </a:xfrm>
          <a:prstGeom prst="roundRect">
            <a:avLst>
              <a:gd name="adj" fmla="val 10667"/>
            </a:avLst>
          </a:prstGeom>
          <a:solidFill>
            <a:srgbClr val="F4F2EC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55961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E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Force-Close: Yöneticiler + lead + editör yön. brief parent'ına 🔒 reaction ekler → sistem eksik adımları otomatik tamamlar.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12700">
            <a:solidFill>
              <a:srgbClr val="FB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0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28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6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Otomatik Raporlar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7772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RAPOR · ZAMANLAMA · İÇERIK ÖZETI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005840"/>
            <a:ext cx="10515600" cy="13716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14300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143000"/>
            <a:ext cx="5394960" cy="109728"/>
          </a:xfrm>
          <a:prstGeom prst="roundRect">
            <a:avLst>
              <a:gd name="adj" fmla="val 33333"/>
            </a:avLst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32588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Her hafta içi 07:50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15636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6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Sabah Raporu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194767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#benseno-grafik — tüm ekip genel özeti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240487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yöneticiye özelleştirilmiş DM + '3 aksiyon'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86207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 kişiye departman bazlı günaydın DM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37960" y="114300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1143000"/>
            <a:ext cx="5394960" cy="109728"/>
          </a:xfrm>
          <a:prstGeom prst="roundRect">
            <a:avLst>
              <a:gd name="adj" fmla="val 33333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32588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Her Cuma 17:00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0840" y="15636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6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Haftalık Retrospektif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194767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Haftanın özeti — tamamlanan, geciken, ort. süre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0840" y="240487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🏆⚡✅📈 Haftanın Yıldızları mesajı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20840" y="286207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E3 marka istatistikleri güncellenir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" y="37033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3703320"/>
            <a:ext cx="5394960" cy="109728"/>
          </a:xfrm>
          <a:prstGeom prst="roundRect">
            <a:avLst>
              <a:gd name="adj" fmla="val 33333"/>
            </a:avLst>
          </a:prstGeom>
          <a:solidFill>
            <a:srgbClr val="C99A1E"/>
          </a:solidFill>
          <a:ln w="12700">
            <a:solidFill>
              <a:srgbClr val="C99A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388620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Ay sonu son iş günü 17:00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41239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6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Aylık Stratejik Özet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450799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3 marka / tasarımcı / editör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" y="496519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Kapasite trendi + risk göstergeleri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" y="542239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Drive'a PDF + strateji önerileri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37960" y="37033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7960" y="3703320"/>
            <a:ext cx="5394960" cy="109728"/>
          </a:xfrm>
          <a:prstGeom prst="roundRect">
            <a:avLst>
              <a:gd name="adj" fmla="val 33333"/>
            </a:avLst>
          </a:prstGeom>
          <a:solidFill>
            <a:srgbClr val="2E8F66"/>
          </a:solidFill>
          <a:ln w="12700">
            <a:solidFill>
              <a:srgbClr val="2E8F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388620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Her hafta içi 17:00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41239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6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Günlük Sistem Özeti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20840" y="450799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Kaç orchestrator run yapıldı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20840" y="496519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Timeout / hata durumu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20840" y="542239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Slack Bot çalışıyor mu?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12700">
            <a:solidFill>
              <a:srgbClr val="FB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0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28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6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— Yeni Ekip Üyesi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7772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GÜNLÜK PROGRAM · KAYNAKLAR · BAŞLATMA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005840"/>
            <a:ext cx="10515600" cy="13716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143000"/>
            <a:ext cx="10744200" cy="640080"/>
          </a:xfrm>
          <a:prstGeom prst="roundRect">
            <a:avLst>
              <a:gd name="adj" fmla="val 11429"/>
            </a:avLst>
          </a:prstGeom>
          <a:solidFill>
            <a:srgbClr val="16161A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280160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24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Onboarding başlat: [USER_ID] [İsim] [başlangıç_tarihi]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10744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GÜNLÜK PROGRAM  —  Her sabah 09:30'da DM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69848" y="2651760"/>
            <a:ext cx="18288" cy="420624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240280"/>
            <a:ext cx="402336" cy="402336"/>
          </a:xfrm>
          <a:prstGeom prst="ellipse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31343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225856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Hoşgeldin &amp; Sistem Turu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478024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Canvas, Dashboard, Marka Kitabı, Lessons Learned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69848" y="3493008"/>
            <a:ext cx="18288" cy="420624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081528"/>
            <a:ext cx="402336" cy="402336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154680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099816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Kitabı Turu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331927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markanın logo/font/renk/ton özelliklerini öğren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69848" y="4334256"/>
            <a:ext cx="18288" cy="420624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922776"/>
            <a:ext cx="402336" cy="402336"/>
          </a:xfrm>
          <a:prstGeom prst="ellipse">
            <a:avLst/>
          </a:prstGeom>
          <a:solidFill>
            <a:srgbClr val="C99A1E"/>
          </a:solidFill>
          <a:ln w="12700">
            <a:solidFill>
              <a:srgbClr val="C99A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99592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17320" y="3941064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Egzersiz Brief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17320" y="416052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İpek atar — düşük baskılı pratik iş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69848" y="5175504"/>
            <a:ext cx="18288" cy="420624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4764024"/>
            <a:ext cx="402336" cy="402336"/>
          </a:xfrm>
          <a:prstGeom prst="ellipse">
            <a:avLst/>
          </a:prstGeom>
          <a:solidFill>
            <a:srgbClr val="2E8F66"/>
          </a:solidFill>
          <a:ln w="12700">
            <a:solidFill>
              <a:srgbClr val="2E8F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837176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17320" y="478231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Gerçek Brief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17320" y="5001768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Assign, Thread Özet, Revizyon Tahmini tanıtımı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68680" y="5605272"/>
            <a:ext cx="402336" cy="402336"/>
          </a:xfrm>
          <a:prstGeom prst="ellipse">
            <a:avLst/>
          </a:prstGeom>
          <a:solidFill>
            <a:srgbClr val="5B5B66"/>
          </a:solidFill>
          <a:ln w="12700">
            <a:solidFill>
              <a:srgbClr val="5B5B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5678424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17320" y="5623560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Bildirim &amp; Tam Üyelik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17320" y="584301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 Cansu + İpek toplantısı — tam üyelik aktif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68680" y="6400800"/>
            <a:ext cx="10744200" cy="237744"/>
          </a:xfrm>
          <a:prstGeom prst="roundRect">
            <a:avLst>
              <a:gd name="adj" fmla="val 15385"/>
            </a:avLst>
          </a:prstGeom>
          <a:solidFill>
            <a:srgbClr val="F4F2EC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6437376"/>
            <a:ext cx="10332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Kaynaklar: Ana Canvas (F0B1B6XUD44) · Marka Kitabı · Lessons Learned · Templates · Dashboard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12700">
            <a:solidFill>
              <a:srgbClr val="FB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0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28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6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 Çalışma Takvimi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7772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DÖNGÜSÜ · :15/:45 · LOCKFILE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005840"/>
            <a:ext cx="10515600" cy="13716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143000"/>
            <a:ext cx="10744200" cy="502920"/>
          </a:xfrm>
          <a:prstGeom prst="roundRect">
            <a:avLst>
              <a:gd name="adj" fmla="val 14545"/>
            </a:avLst>
          </a:prstGeom>
          <a:solidFill>
            <a:srgbClr val="F5E8E4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261872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Hafta içi (Pzt–Cum) 08:00–18:00 saatleri arasında aktif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783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ADIMLARI  (Her :15 ve :45)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2103120"/>
            <a:ext cx="402336" cy="402336"/>
          </a:xfrm>
          <a:prstGeom prst="ellipse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1762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12140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234086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okuma (30dk cache) · brief parse · E3 · live-data.json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60704" y="2523744"/>
            <a:ext cx="18288" cy="475488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017520"/>
            <a:ext cx="402336" cy="402336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0906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303580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25526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DM'ler · thread uyarıları · Google Calendar · idempotent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60704" y="3438144"/>
            <a:ext cx="18288" cy="475488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3931920"/>
            <a:ext cx="402336" cy="402336"/>
          </a:xfrm>
          <a:prstGeom prst="ellipse">
            <a:avLst/>
          </a:prstGeom>
          <a:solidFill>
            <a:srgbClr val="C99A1E"/>
          </a:solidFill>
          <a:ln w="12700">
            <a:solidFill>
              <a:srgbClr val="C99A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005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395020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Agent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17320" y="416966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live-data.json → EMBEDDED_DATA → GitHub push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60704" y="4352544"/>
            <a:ext cx="18288" cy="475488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846320"/>
            <a:ext cx="402336" cy="402336"/>
          </a:xfrm>
          <a:prstGeom prst="ellipse">
            <a:avLst/>
          </a:prstGeom>
          <a:solidFill>
            <a:srgbClr val="2E8F66"/>
          </a:solidFill>
          <a:ln w="12700">
            <a:solidFill>
              <a:srgbClr val="2E8F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9194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486460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güncelle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17320" y="508406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agent-state.json · GitHub PAT süresi kontrol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17830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ZAMANLAMA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75120" y="2103120"/>
            <a:ext cx="49377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CEA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23113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 dakika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223113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launchd mesai saati kontrolü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5120" y="2761488"/>
            <a:ext cx="4937760" cy="548640"/>
          </a:xfrm>
          <a:prstGeom prst="roundRect">
            <a:avLst>
              <a:gd name="adj" fmla="val 8333"/>
            </a:avLst>
          </a:prstGeom>
          <a:solidFill>
            <a:srgbClr val="F4F2EC"/>
          </a:solidFill>
          <a:ln w="6350">
            <a:solidFill>
              <a:srgbClr val="ECEA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288950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 :15 / :45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03920" y="288950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tam döngüsü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75120" y="3419856"/>
            <a:ext cx="49377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CEA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354787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07:50 hft içi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03920" y="354787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Sabah raporu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675120" y="4078224"/>
            <a:ext cx="4937760" cy="548640"/>
          </a:xfrm>
          <a:prstGeom prst="roundRect">
            <a:avLst>
              <a:gd name="adj" fmla="val 8333"/>
            </a:avLst>
          </a:prstGeom>
          <a:solidFill>
            <a:srgbClr val="F4F2EC"/>
          </a:solidFill>
          <a:ln w="6350">
            <a:solidFill>
              <a:srgbClr val="ECEA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20624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17:00 hft içi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03920" y="420624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sistem özeti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675120" y="4736592"/>
            <a:ext cx="49377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CEA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486460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Cuma 17:00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503920" y="486460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retrospektif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675120" y="5394960"/>
            <a:ext cx="4937760" cy="548640"/>
          </a:xfrm>
          <a:prstGeom prst="roundRect">
            <a:avLst>
              <a:gd name="adj" fmla="val 8333"/>
            </a:avLst>
          </a:prstGeom>
          <a:solidFill>
            <a:srgbClr val="F4F2EC"/>
          </a:solidFill>
          <a:ln w="6350">
            <a:solidFill>
              <a:srgbClr val="ECEA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0" y="552297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Ay sonu 17:00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503920" y="552297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stratejik özet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68680" y="5943600"/>
            <a:ext cx="10744200" cy="640080"/>
          </a:xfrm>
          <a:prstGeom prst="roundRect">
            <a:avLst>
              <a:gd name="adj" fmla="val 11429"/>
            </a:avLst>
          </a:prstGeom>
          <a:solidFill>
            <a:srgbClr val="F4F2EC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840" y="6053328"/>
            <a:ext cx="10332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E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Lockfile: Devam eden run varken yenisi başlamaz (/tmp/benseno-orchestrator.lock). Takılı run varsa silinir.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12700">
            <a:solidFill>
              <a:srgbClr val="FB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0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28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6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Sık Sorulan Sorular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7772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ÇOK SORULAN 4 SORU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005840"/>
            <a:ext cx="10515600" cy="13716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1430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143000"/>
            <a:ext cx="5394960" cy="91440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325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13258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açtım ama Canvas'ta görünmüyor?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9659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sync her 30 dakikada bir çalışır — açtığınız saatten sonra gelen :15 veya :45'te işlenir. 45 dakika geçtiyse doğru kanal ve formatı kontrol edin.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11430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1143000"/>
            <a:ext cx="5394960" cy="9144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325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86600" y="13258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Brief'in önceliği yanlış hesaplandı?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19659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Yöneticiler (Görkem, Reyhan, Cansu, İpek, erdem) brief parent'ına 🔴🟠🟡🟢 reaction ekleyerek anlık değiştirebilir.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36118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611880"/>
            <a:ext cx="5394960" cy="91440"/>
          </a:xfrm>
          <a:prstGeom prst="rect">
            <a:avLst/>
          </a:prstGeom>
          <a:solidFill>
            <a:srgbClr val="C99A1E"/>
          </a:solidFill>
          <a:ln w="12700">
            <a:solidFill>
              <a:srgbClr val="C99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794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37947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Geçmiş tarihli brief açtım, uyarıyı nasıl kapatırım?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434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Thread'e '✅ ok' veya 'teyit' yazın. Ya da brief'e ✅ reaction ekleyin. Sistem 'teyit edilmiş geç brief' olarak işaretler.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37960" y="36118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CEA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3611880"/>
            <a:ext cx="5394960" cy="91440"/>
          </a:xfrm>
          <a:prstGeom prst="rect">
            <a:avLst/>
          </a:prstGeom>
          <a:solidFill>
            <a:srgbClr val="2E8F66"/>
          </a:solidFill>
          <a:ln w="12700">
            <a:solidFill>
              <a:srgbClr val="2E8F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3794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37947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OOO durumum sisteme nasıl yansır?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4434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Calendar'a izin/tatil/OOO etkinliği ekleyin. Sabah raporu bu etkinlikleri okuyarak OOO listesi oluşturur. WFH OOO sayılmaz.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12700">
            <a:solidFill>
              <a:srgbClr val="FB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6858000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28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61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Teknik Referans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7772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 HESAPLAMA · CANVAS KURALLARI · PAT YÖNETIMI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005840"/>
            <a:ext cx="10515600" cy="13716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14300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ÖNCELİK HESAPLAMA (delta_hours)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141732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AE8EA"/>
          </a:solidFill>
          <a:ln w="6350">
            <a:solidFill>
              <a:srgbClr val="ECE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453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15453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GEÇMİŞ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2075688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AE8EA"/>
          </a:solidFill>
          <a:ln w="6350">
            <a:solidFill>
              <a:srgbClr val="ECE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203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&lt; Δ ≤ 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2037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Acil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2734056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4F2EC"/>
          </a:solidFill>
          <a:ln w="6350">
            <a:solidFill>
              <a:srgbClr val="ECEA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8620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&lt; Δ ≤ 24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28620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Yüksek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3392424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F4F2EC"/>
          </a:solidFill>
          <a:ln w="6350">
            <a:solidFill>
              <a:srgbClr val="ECEA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&lt; Δ ≤ 72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3520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Normal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4050792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E8F4EF"/>
          </a:solidFill>
          <a:ln w="6350">
            <a:solidFill>
              <a:srgbClr val="ECEA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1788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72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41788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Düşük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75488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Saatsiz brief'lerde deadline = o günün 23:59'u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11430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GÜNCELLEME KURALLARI (KRİTİK)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83680" y="1417320"/>
            <a:ext cx="5029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15453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154533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section_id parametresi KULLANMA — API bug'ı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2148840"/>
            <a:ext cx="5029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22768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95160" y="227685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Canvas'a H1 başlık YAZMA — title ayrıca set edilir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2880360"/>
            <a:ext cx="5029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3008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95160" y="300837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Güncelleme her zaman FULL REPLACE — kısmi güncelleme yok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3611880"/>
            <a:ext cx="5029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3739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95160" y="373989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Değişiklik yoksa canvas güncelleme ÇAĞIRMA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83680" y="4343400"/>
            <a:ext cx="5029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4471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95160" y="447141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İşler: 13 sütun · Tamamlananlar: 14 sütun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68680" y="5120640"/>
            <a:ext cx="10744200" cy="640080"/>
          </a:xfrm>
          <a:prstGeom prst="roundRect">
            <a:avLst>
              <a:gd name="adj" fmla="val 11429"/>
            </a:avLst>
          </a:prstGeom>
          <a:solidFill>
            <a:srgbClr val="F4F2EC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" y="5230368"/>
            <a:ext cx="10332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E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GitHub PAT (data/.github-pat-sistem) · 90 gün geçerli · 80+ gün: DM uyarısı · 90+ gün: Dashboard push kesilir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Benseno</a:t>
            </a:r>
            <a:endParaRPr lang="en-US" sz="5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Tasarım Sistemi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114800" y="3474720"/>
            <a:ext cx="3931920" cy="36576"/>
          </a:xfrm>
          <a:prstGeom prst="rect">
            <a:avLst/>
          </a:prstGeom>
          <a:solidFill>
            <a:srgbClr val="C24A2C"/>
          </a:solidFill>
          <a:ln w="12700">
            <a:solidFill>
              <a:srgbClr val="C24A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490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24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bensenoint.github.io/benseno-tasarim-sistemi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v7.13  ·  Mayıs 2026  ·  16 kişi  ·  39 marka  ·  3 departman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docs/kullanim-klavuzu.html  ·  docs/kullanim-klavuzu.md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Benseno Kullanım Kılavuzu</dc:title>
  <dc:subject>Kullanım Kılavuzu v7.13</dc:subject>
  <dc:creator>Benseno Tasarım Sistemi</dc:creator>
  <cp:lastModifiedBy>Benseno Tasarım Sistemi</cp:lastModifiedBy>
  <cp:revision>1</cp:revision>
  <dcterms:created xsi:type="dcterms:W3CDTF">2026-05-26T22:11:01Z</dcterms:created>
  <dcterms:modified xsi:type="dcterms:W3CDTF">2026-05-26T22:11:01Z</dcterms:modified>
</cp:coreProperties>
</file>